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kta Light" charset="1" panose="020B0000000000000000"/>
      <p:regular r:id="rId16"/>
    </p:embeddedFont>
    <p:embeddedFont>
      <p:font typeface="Prompt Medium" charset="1" panose="00000600000000000000"/>
      <p:regular r:id="rId17"/>
    </p:embeddedFont>
    <p:embeddedFont>
      <p:font typeface="Mukta Bold" charset="1" panose="020B0000000000000000"/>
      <p:regular r:id="rId19"/>
    </p:embeddedFont>
    <p:embeddedFont>
      <p:font typeface="Mukta" charset="1" panose="020B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394" y="6629219"/>
            <a:ext cx="4301414" cy="620649"/>
            <a:chOff x="0" y="0"/>
            <a:chExt cx="5735218" cy="827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35193" cy="827532"/>
            </a:xfrm>
            <a:custGeom>
              <a:avLst/>
              <a:gdLst/>
              <a:ahLst/>
              <a:cxnLst/>
              <a:rect r="r" b="b" t="t" l="l"/>
              <a:pathLst>
                <a:path h="827532" w="5735193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5591937" y="0"/>
                  </a:lnTo>
                  <a:cubicBezTo>
                    <a:pt x="5671058" y="0"/>
                    <a:pt x="5735193" y="64135"/>
                    <a:pt x="5735193" y="143256"/>
                  </a:cubicBezTo>
                  <a:lnTo>
                    <a:pt x="5735193" y="684276"/>
                  </a:lnTo>
                  <a:cubicBezTo>
                    <a:pt x="5735193" y="763397"/>
                    <a:pt x="5671058" y="827532"/>
                    <a:pt x="5591937" y="827532"/>
                  </a:cubicBezTo>
                  <a:lnTo>
                    <a:pt x="143256" y="827532"/>
                  </a:lnTo>
                  <a:cubicBezTo>
                    <a:pt x="64135" y="827532"/>
                    <a:pt x="0" y="763397"/>
                    <a:pt x="0" y="68427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041" r="0" b="-85041"/>
              </a:stretch>
            </a:blipFill>
            <a:ln w="9532" cap="sq">
              <a:solidFill>
                <a:srgbClr val="A95B95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00553" y="6671272"/>
            <a:ext cx="4810192" cy="46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ACTIVIDAD 6 — DEEP LEARNING / NLP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546703" y="6629219"/>
            <a:ext cx="3031693" cy="620649"/>
            <a:chOff x="0" y="0"/>
            <a:chExt cx="4042258" cy="8275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2156" cy="827532"/>
            </a:xfrm>
            <a:custGeom>
              <a:avLst/>
              <a:gdLst/>
              <a:ahLst/>
              <a:cxnLst/>
              <a:rect r="r" b="b" t="t" l="l"/>
              <a:pathLst>
                <a:path h="827532" w="4042156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3898900" y="0"/>
                  </a:lnTo>
                  <a:cubicBezTo>
                    <a:pt x="3978021" y="0"/>
                    <a:pt x="4042156" y="64135"/>
                    <a:pt x="4042156" y="143256"/>
                  </a:cubicBezTo>
                  <a:lnTo>
                    <a:pt x="4042156" y="684276"/>
                  </a:lnTo>
                  <a:cubicBezTo>
                    <a:pt x="4042156" y="763397"/>
                    <a:pt x="3978021" y="827532"/>
                    <a:pt x="3898900" y="827532"/>
                  </a:cubicBezTo>
                  <a:lnTo>
                    <a:pt x="143256" y="827532"/>
                  </a:lnTo>
                  <a:cubicBezTo>
                    <a:pt x="64135" y="827532"/>
                    <a:pt x="0" y="763397"/>
                    <a:pt x="0" y="684276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78" r="-2" b="-45178"/>
              </a:stretch>
            </a:blipFill>
            <a:ln w="9532" cap="sq">
              <a:solidFill>
                <a:srgbClr val="A95B9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201900" y="9740751"/>
            <a:ext cx="3086100" cy="489785"/>
            <a:chOff x="0" y="0"/>
            <a:chExt cx="812800" cy="1289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28997"/>
            </a:xfrm>
            <a:custGeom>
              <a:avLst/>
              <a:gdLst/>
              <a:ahLst/>
              <a:cxnLst/>
              <a:rect r="r" b="b" t="t" l="l"/>
              <a:pathLst>
                <a:path h="12899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8997"/>
                  </a:lnTo>
                  <a:lnTo>
                    <a:pt x="0" y="128997"/>
                  </a:lnTo>
                  <a:close/>
                </a:path>
              </a:pathLst>
            </a:custGeom>
            <a:solidFill>
              <a:srgbClr val="0A0B2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14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02157" y="3021359"/>
            <a:ext cx="9234326" cy="177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Análisis de Reseñas Trustpilot: Halfords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2157" y="5176495"/>
            <a:ext cx="9234326" cy="110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Sentimiento, topics y comparación competitiva · Sector: Vehicles &amp; Transportation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49862" y="6671272"/>
            <a:ext cx="3540471" cy="35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MIGUEL ANGEL HERNANZ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02309" y="1393698"/>
            <a:ext cx="12969907" cy="90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Objetivos, Hipótesis y Metodología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2309" y="3074670"/>
            <a:ext cx="4414456" cy="44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2309" y="3741258"/>
            <a:ext cx="7664491" cy="160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Analizar la percepción de clientes de Halfords mediante NLP e identificar fortalezas y oportunidades frente a la competencia.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2309" y="5653945"/>
            <a:ext cx="4414456" cy="44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Metodología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2309" y="6320533"/>
            <a:ext cx="7664491" cy="24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100 reseñas Halfords · 4.400 reseñas de 44 competidores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Sentimiento: VADER (título + reseña)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Topics: TF-IDF + NMF, 6 temas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Las estrellas no se usan para calcular sentimiento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4574" y="3074670"/>
            <a:ext cx="4414456" cy="44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Hipótesis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4574" y="3741258"/>
            <a:ext cx="7664491" cy="305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b="true" sz="2476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H1:</a:t>
            </a: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Predomina sentimiento positivo en Halfords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b="true" sz="2476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H2:</a:t>
            </a: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Halfords supera a la competencia en positivo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b="true" sz="2476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H3:</a:t>
            </a: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El peso de los topics difiere entre ambos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b="true" sz="2476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H4:</a:t>
            </a: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El sentimiento varía según el topic</a:t>
            </a:r>
          </a:p>
          <a:p>
            <a:pPr algn="l" marL="448614" indent="-224307" lvl="1">
              <a:lnSpc>
                <a:spcPts val="3953"/>
              </a:lnSpc>
              <a:buFont typeface="Arial"/>
              <a:buChar char="•"/>
            </a:pPr>
            <a:r>
              <a:rPr lang="en-US" b="true" sz="2476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H5:</a:t>
            </a:r>
            <a:r>
              <a:rPr lang="en-US" sz="247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Existen fortalezas y debilidades por topic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5286" y="859727"/>
            <a:ext cx="12533366" cy="56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Halfords presenta una percepción global más favorable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0514" y="1650302"/>
            <a:ext cx="15100659" cy="1683077"/>
            <a:chOff x="0" y="0"/>
            <a:chExt cx="20134212" cy="22441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34199" cy="2244090"/>
            </a:xfrm>
            <a:custGeom>
              <a:avLst/>
              <a:gdLst/>
              <a:ahLst/>
              <a:cxnLst/>
              <a:rect r="r" b="b" t="t" l="l"/>
              <a:pathLst>
                <a:path h="2244090" w="20134199">
                  <a:moveTo>
                    <a:pt x="0" y="108077"/>
                  </a:moveTo>
                  <a:cubicBezTo>
                    <a:pt x="0" y="48387"/>
                    <a:pt x="48387" y="0"/>
                    <a:pt x="108077" y="0"/>
                  </a:cubicBezTo>
                  <a:lnTo>
                    <a:pt x="20026122" y="0"/>
                  </a:lnTo>
                  <a:cubicBezTo>
                    <a:pt x="20085811" y="0"/>
                    <a:pt x="20134199" y="48387"/>
                    <a:pt x="20134199" y="108077"/>
                  </a:cubicBezTo>
                  <a:lnTo>
                    <a:pt x="20134199" y="2136013"/>
                  </a:lnTo>
                  <a:cubicBezTo>
                    <a:pt x="20134199" y="2195703"/>
                    <a:pt x="20085811" y="2244090"/>
                    <a:pt x="20026122" y="2244090"/>
                  </a:cubicBezTo>
                  <a:lnTo>
                    <a:pt x="108077" y="2244090"/>
                  </a:lnTo>
                  <a:cubicBezTo>
                    <a:pt x="48387" y="2244090"/>
                    <a:pt x="0" y="2195703"/>
                    <a:pt x="0" y="213601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821" r="0" b="-124822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806654" y="1725235"/>
            <a:ext cx="6560249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Sentimiento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5475" y="1725235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Halfords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49889" y="1725235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Competencia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64304" y="1725235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Diferencia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6654" y="2141239"/>
            <a:ext cx="6560249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Positivo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35475" y="2141239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63,00 %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49889" y="2141239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57,86 %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4304" y="2141239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+5,14 pp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6654" y="2557243"/>
            <a:ext cx="6560249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Negativo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35475" y="2557243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34,00 %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49889" y="2557243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37,57 %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4304" y="2557243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−3,57 pp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654" y="2973248"/>
            <a:ext cx="6560249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Neutral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35475" y="2973248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3,00 %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49889" y="2973248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4,57 %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64304" y="2973248"/>
            <a:ext cx="3545834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−1,57 pp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00514" y="3455365"/>
            <a:ext cx="4961963" cy="1243241"/>
            <a:chOff x="0" y="0"/>
            <a:chExt cx="6615951" cy="16576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15938" cy="1657731"/>
            </a:xfrm>
            <a:custGeom>
              <a:avLst/>
              <a:gdLst/>
              <a:ahLst/>
              <a:cxnLst/>
              <a:rect r="r" b="b" t="t" l="l"/>
              <a:pathLst>
                <a:path h="1657731" w="6615938">
                  <a:moveTo>
                    <a:pt x="0" y="108331"/>
                  </a:moveTo>
                  <a:cubicBezTo>
                    <a:pt x="0" y="48514"/>
                    <a:pt x="48514" y="0"/>
                    <a:pt x="108331" y="0"/>
                  </a:cubicBezTo>
                  <a:lnTo>
                    <a:pt x="6507607" y="0"/>
                  </a:lnTo>
                  <a:cubicBezTo>
                    <a:pt x="6567424" y="0"/>
                    <a:pt x="6615938" y="48514"/>
                    <a:pt x="6615938" y="108331"/>
                  </a:cubicBezTo>
                  <a:lnTo>
                    <a:pt x="6615938" y="1549400"/>
                  </a:lnTo>
                  <a:cubicBezTo>
                    <a:pt x="6615938" y="1609217"/>
                    <a:pt x="6567424" y="1657731"/>
                    <a:pt x="6507607" y="1657731"/>
                  </a:cubicBezTo>
                  <a:lnTo>
                    <a:pt x="108331" y="1657731"/>
                  </a:lnTo>
                  <a:cubicBezTo>
                    <a:pt x="48514" y="1657604"/>
                    <a:pt x="0" y="1609217"/>
                    <a:pt x="0" y="1549400"/>
                  </a:cubicBezTo>
                  <a:close/>
                </a:path>
              </a:pathLst>
            </a:custGeom>
            <a:solidFill>
              <a:srgbClr val="542C49"/>
            </a:solidFill>
            <a:ln w="9532" cap="sq">
              <a:solidFill>
                <a:srgbClr val="6D456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806654" y="3642455"/>
            <a:ext cx="2132381" cy="28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651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✓ H1 confirmada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06654" y="3979212"/>
            <a:ext cx="4549692" cy="2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Predomina el sentimiento positivo en Halfords.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669862" y="3455365"/>
            <a:ext cx="4961963" cy="1243241"/>
            <a:chOff x="0" y="0"/>
            <a:chExt cx="6615951" cy="16576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15938" cy="1657731"/>
            </a:xfrm>
            <a:custGeom>
              <a:avLst/>
              <a:gdLst/>
              <a:ahLst/>
              <a:cxnLst/>
              <a:rect r="r" b="b" t="t" l="l"/>
              <a:pathLst>
                <a:path h="1657731" w="6615938">
                  <a:moveTo>
                    <a:pt x="0" y="108331"/>
                  </a:moveTo>
                  <a:cubicBezTo>
                    <a:pt x="0" y="48514"/>
                    <a:pt x="48514" y="0"/>
                    <a:pt x="108331" y="0"/>
                  </a:cubicBezTo>
                  <a:lnTo>
                    <a:pt x="6507607" y="0"/>
                  </a:lnTo>
                  <a:cubicBezTo>
                    <a:pt x="6567424" y="0"/>
                    <a:pt x="6615938" y="48514"/>
                    <a:pt x="6615938" y="108331"/>
                  </a:cubicBezTo>
                  <a:lnTo>
                    <a:pt x="6615938" y="1549400"/>
                  </a:lnTo>
                  <a:cubicBezTo>
                    <a:pt x="6615938" y="1609217"/>
                    <a:pt x="6567424" y="1657731"/>
                    <a:pt x="6507607" y="1657731"/>
                  </a:cubicBezTo>
                  <a:lnTo>
                    <a:pt x="108331" y="1657731"/>
                  </a:lnTo>
                  <a:cubicBezTo>
                    <a:pt x="48514" y="1657604"/>
                    <a:pt x="0" y="1609217"/>
                    <a:pt x="0" y="1549400"/>
                  </a:cubicBezTo>
                  <a:close/>
                </a:path>
              </a:pathLst>
            </a:custGeom>
            <a:solidFill>
              <a:srgbClr val="542C49"/>
            </a:solidFill>
            <a:ln w="9532" cap="sq">
              <a:solidFill>
                <a:srgbClr val="6D4562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6876002" y="3642455"/>
            <a:ext cx="2132381" cy="28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651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✓ H2 confirmada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76002" y="3979212"/>
            <a:ext cx="4034920" cy="47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Halfords presenta una mayor proporción de reseñas</a:t>
            </a:r>
          </a:p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positivas que la competencia.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739210" y="3455365"/>
            <a:ext cx="4961963" cy="1243241"/>
            <a:chOff x="0" y="0"/>
            <a:chExt cx="6615951" cy="16576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15938" cy="1657731"/>
            </a:xfrm>
            <a:custGeom>
              <a:avLst/>
              <a:gdLst/>
              <a:ahLst/>
              <a:cxnLst/>
              <a:rect r="r" b="b" t="t" l="l"/>
              <a:pathLst>
                <a:path h="1657731" w="6615938">
                  <a:moveTo>
                    <a:pt x="0" y="108331"/>
                  </a:moveTo>
                  <a:cubicBezTo>
                    <a:pt x="0" y="48514"/>
                    <a:pt x="48514" y="0"/>
                    <a:pt x="108331" y="0"/>
                  </a:cubicBezTo>
                  <a:lnTo>
                    <a:pt x="6507607" y="0"/>
                  </a:lnTo>
                  <a:cubicBezTo>
                    <a:pt x="6567424" y="0"/>
                    <a:pt x="6615938" y="48514"/>
                    <a:pt x="6615938" y="108331"/>
                  </a:cubicBezTo>
                  <a:lnTo>
                    <a:pt x="6615938" y="1549400"/>
                  </a:lnTo>
                  <a:cubicBezTo>
                    <a:pt x="6615938" y="1609217"/>
                    <a:pt x="6567424" y="1657731"/>
                    <a:pt x="6507607" y="1657731"/>
                  </a:cubicBezTo>
                  <a:lnTo>
                    <a:pt x="108331" y="1657731"/>
                  </a:lnTo>
                  <a:cubicBezTo>
                    <a:pt x="48514" y="1657604"/>
                    <a:pt x="0" y="1609217"/>
                    <a:pt x="0" y="1549400"/>
                  </a:cubicBezTo>
                  <a:close/>
                </a:path>
              </a:pathLst>
            </a:custGeom>
            <a:solidFill>
              <a:srgbClr val="542C49"/>
            </a:solidFill>
            <a:ln w="9532" cap="sq">
              <a:solidFill>
                <a:srgbClr val="6D4562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945350" y="3642455"/>
            <a:ext cx="2132381" cy="28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651" b="true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⚠</a:t>
            </a:r>
            <a:r>
              <a:rPr lang="en-US" sz="1651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 Señal de alerta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45350" y="3979212"/>
            <a:ext cx="4549692" cy="51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El 34 % de reseñas negativas exige analizar los temas concretos de insatisfacción.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950694" y="4917681"/>
            <a:ext cx="8115378" cy="5019380"/>
            <a:chOff x="0" y="0"/>
            <a:chExt cx="9875964" cy="6108306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9875901" cy="6108319"/>
            </a:xfrm>
            <a:custGeom>
              <a:avLst/>
              <a:gdLst/>
              <a:ahLst/>
              <a:cxnLst/>
              <a:rect r="r" b="b" t="t" l="l"/>
              <a:pathLst>
                <a:path h="6108319" w="9875901">
                  <a:moveTo>
                    <a:pt x="0" y="0"/>
                  </a:moveTo>
                  <a:lnTo>
                    <a:pt x="9875901" y="0"/>
                  </a:lnTo>
                  <a:lnTo>
                    <a:pt x="9875901" y="6108319"/>
                  </a:lnTo>
                  <a:lnTo>
                    <a:pt x="0" y="610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" t="0" r="-2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86929" y="6600330"/>
            <a:ext cx="7722137" cy="2523268"/>
            <a:chOff x="0" y="0"/>
            <a:chExt cx="10296182" cy="3364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6144" cy="3364230"/>
            </a:xfrm>
            <a:custGeom>
              <a:avLst/>
              <a:gdLst/>
              <a:ahLst/>
              <a:cxnLst/>
              <a:rect r="r" b="b" t="t" l="l"/>
              <a:pathLst>
                <a:path h="3364230" w="10296144">
                  <a:moveTo>
                    <a:pt x="0" y="149860"/>
                  </a:moveTo>
                  <a:cubicBezTo>
                    <a:pt x="0" y="67183"/>
                    <a:pt x="67183" y="0"/>
                    <a:pt x="149860" y="0"/>
                  </a:cubicBezTo>
                  <a:lnTo>
                    <a:pt x="10146284" y="0"/>
                  </a:lnTo>
                  <a:cubicBezTo>
                    <a:pt x="10229088" y="0"/>
                    <a:pt x="10296144" y="67183"/>
                    <a:pt x="10296144" y="149860"/>
                  </a:cubicBezTo>
                  <a:lnTo>
                    <a:pt x="10296144" y="3214370"/>
                  </a:lnTo>
                  <a:cubicBezTo>
                    <a:pt x="10296144" y="3297174"/>
                    <a:pt x="10228961" y="3364230"/>
                    <a:pt x="10146284" y="3364230"/>
                  </a:cubicBezTo>
                  <a:lnTo>
                    <a:pt x="149860" y="3364230"/>
                  </a:lnTo>
                  <a:cubicBezTo>
                    <a:pt x="67056" y="3364230"/>
                    <a:pt x="0" y="3297047"/>
                    <a:pt x="0" y="3214370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54581" y="6977005"/>
            <a:ext cx="334518" cy="267653"/>
            <a:chOff x="0" y="0"/>
            <a:chExt cx="446024" cy="35687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46024" cy="356870"/>
            </a:xfrm>
            <a:custGeom>
              <a:avLst/>
              <a:gdLst/>
              <a:ahLst/>
              <a:cxnLst/>
              <a:rect r="r" b="b" t="t" l="l"/>
              <a:pathLst>
                <a:path h="356870" w="446024">
                  <a:moveTo>
                    <a:pt x="0" y="0"/>
                  </a:moveTo>
                  <a:lnTo>
                    <a:pt x="446024" y="0"/>
                  </a:lnTo>
                  <a:lnTo>
                    <a:pt x="446024" y="356870"/>
                  </a:lnTo>
                  <a:lnTo>
                    <a:pt x="0" y="35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1" r="0" b="-33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66725" y="3789569"/>
            <a:ext cx="8562975" cy="4640062"/>
          </a:xfrm>
          <a:custGeom>
            <a:avLst/>
            <a:gdLst/>
            <a:ahLst/>
            <a:cxnLst/>
            <a:rect r="r" b="b" t="t" l="l"/>
            <a:pathLst>
              <a:path h="4640062" w="8562975">
                <a:moveTo>
                  <a:pt x="0" y="0"/>
                </a:moveTo>
                <a:lnTo>
                  <a:pt x="8562975" y="0"/>
                </a:lnTo>
                <a:lnTo>
                  <a:pt x="8562975" y="4640062"/>
                </a:lnTo>
                <a:lnTo>
                  <a:pt x="0" y="4640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2309" y="886987"/>
            <a:ext cx="16097221" cy="151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Los clientes hablan principalmente de atención y experiencia en tienda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929" y="2952245"/>
            <a:ext cx="3889438" cy="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Topics de Halfords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6929" y="3513344"/>
            <a:ext cx="7722137" cy="23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Atención al cliente y servicio general: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29 %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Experiencia en tienda y personal: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19 %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Bombillas y luces: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18 %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Bicicletas, compra y reparaciones: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15 %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Baterías, garantías y pedidos: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12 %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Limpiaparabrisas y escobillas: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7 %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6742" y="6814699"/>
            <a:ext cx="6584671" cy="203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H3 confirmada: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 la importancia relativa de los temas difiere entre Halfords y la competencia. Halfords destaca en experiencia en tienda (</a:t>
            </a: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19 % vs 7,91 %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) y baterías (</a:t>
            </a: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12 % vs 4,66 %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); en la competencia pesa más la atención general (</a:t>
            </a: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43,43 % vs 29 %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86929" y="7567870"/>
            <a:ext cx="7722137" cy="1335138"/>
            <a:chOff x="0" y="0"/>
            <a:chExt cx="10296182" cy="17801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6144" cy="1780159"/>
            </a:xfrm>
            <a:custGeom>
              <a:avLst/>
              <a:gdLst/>
              <a:ahLst/>
              <a:cxnLst/>
              <a:rect r="r" b="b" t="t" l="l"/>
              <a:pathLst>
                <a:path h="1780159" w="10296144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146284" y="0"/>
                  </a:lnTo>
                  <a:cubicBezTo>
                    <a:pt x="10229088" y="0"/>
                    <a:pt x="10296144" y="67056"/>
                    <a:pt x="10296144" y="149860"/>
                  </a:cubicBezTo>
                  <a:lnTo>
                    <a:pt x="10296144" y="1630299"/>
                  </a:lnTo>
                  <a:cubicBezTo>
                    <a:pt x="10296144" y="1713103"/>
                    <a:pt x="10229088" y="1780159"/>
                    <a:pt x="10146284" y="1780159"/>
                  </a:cubicBezTo>
                  <a:lnTo>
                    <a:pt x="149860" y="1780159"/>
                  </a:lnTo>
                  <a:cubicBezTo>
                    <a:pt x="67056" y="1780159"/>
                    <a:pt x="0" y="1713103"/>
                    <a:pt x="0" y="1630299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54581" y="7944555"/>
            <a:ext cx="334518" cy="267653"/>
            <a:chOff x="0" y="0"/>
            <a:chExt cx="446024" cy="35687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46024" cy="356870"/>
            </a:xfrm>
            <a:custGeom>
              <a:avLst/>
              <a:gdLst/>
              <a:ahLst/>
              <a:cxnLst/>
              <a:rect r="r" b="b" t="t" l="l"/>
              <a:pathLst>
                <a:path h="356870" w="446024">
                  <a:moveTo>
                    <a:pt x="0" y="0"/>
                  </a:moveTo>
                  <a:lnTo>
                    <a:pt x="446024" y="0"/>
                  </a:lnTo>
                  <a:lnTo>
                    <a:pt x="446024" y="356870"/>
                  </a:lnTo>
                  <a:lnTo>
                    <a:pt x="0" y="35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1" r="0" b="-33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1662" y="3895667"/>
            <a:ext cx="8844921" cy="4792841"/>
          </a:xfrm>
          <a:custGeom>
            <a:avLst/>
            <a:gdLst/>
            <a:ahLst/>
            <a:cxnLst/>
            <a:rect r="r" b="b" t="t" l="l"/>
            <a:pathLst>
              <a:path h="4792841" w="8844921">
                <a:moveTo>
                  <a:pt x="0" y="0"/>
                </a:moveTo>
                <a:lnTo>
                  <a:pt x="8844920" y="0"/>
                </a:lnTo>
                <a:lnTo>
                  <a:pt x="8844920" y="4792842"/>
                </a:lnTo>
                <a:lnTo>
                  <a:pt x="0" y="4792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2309" y="1107424"/>
            <a:ext cx="16097221" cy="151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El resultado global oculta fortalezas y problemas concretos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929" y="3172682"/>
            <a:ext cx="3889438" cy="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Fortalezas internas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6929" y="3733781"/>
            <a:ext cx="7722137" cy="140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Experiencia en tienda: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89,47 % positivo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Bombillas y luces: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83,33 % positivo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Bicicletas: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66,67 % positivo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29" y="5346525"/>
            <a:ext cx="3889438" cy="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Topics críticos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29" y="5907634"/>
            <a:ext cx="7722137" cy="115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Atención al cliente: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55,17 % negativo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Baterías y garantías: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50/50</a:t>
            </a: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positivo/negativo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Limpiaparabrisas: </a:t>
            </a:r>
            <a:r>
              <a:rPr lang="en-US" sz="2101">
                <a:solidFill>
                  <a:srgbClr val="DAD8E9"/>
                </a:solidFill>
                <a:latin typeface="Mukta"/>
                <a:ea typeface="Mukta"/>
                <a:cs typeface="Mukta"/>
                <a:sym typeface="Mukta"/>
              </a:rPr>
              <a:t>sentimiento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 mixto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6742" y="7782249"/>
            <a:ext cx="6584671" cy="84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H4 confirmada: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 el sentimiento varía considerablemente según el punto de contacto con el cliente.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86929" y="7369921"/>
            <a:ext cx="7722137" cy="1731178"/>
            <a:chOff x="0" y="0"/>
            <a:chExt cx="10296182" cy="2308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6144" cy="2308225"/>
            </a:xfrm>
            <a:custGeom>
              <a:avLst/>
              <a:gdLst/>
              <a:ahLst/>
              <a:cxnLst/>
              <a:rect r="r" b="b" t="t" l="l"/>
              <a:pathLst>
                <a:path h="2308225" w="10296144">
                  <a:moveTo>
                    <a:pt x="0" y="149860"/>
                  </a:moveTo>
                  <a:cubicBezTo>
                    <a:pt x="0" y="67183"/>
                    <a:pt x="67183" y="0"/>
                    <a:pt x="149860" y="0"/>
                  </a:cubicBezTo>
                  <a:lnTo>
                    <a:pt x="10146284" y="0"/>
                  </a:lnTo>
                  <a:cubicBezTo>
                    <a:pt x="10229088" y="0"/>
                    <a:pt x="10296144" y="67183"/>
                    <a:pt x="10296144" y="149860"/>
                  </a:cubicBezTo>
                  <a:lnTo>
                    <a:pt x="10296144" y="2158365"/>
                  </a:lnTo>
                  <a:cubicBezTo>
                    <a:pt x="10296144" y="2241169"/>
                    <a:pt x="10228961" y="2308225"/>
                    <a:pt x="10146284" y="2308225"/>
                  </a:cubicBezTo>
                  <a:lnTo>
                    <a:pt x="149860" y="2308225"/>
                  </a:lnTo>
                  <a:cubicBezTo>
                    <a:pt x="67056" y="2308225"/>
                    <a:pt x="0" y="2241042"/>
                    <a:pt x="0" y="2158365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54581" y="7746606"/>
            <a:ext cx="334518" cy="267653"/>
            <a:chOff x="0" y="0"/>
            <a:chExt cx="446024" cy="35687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46024" cy="356870"/>
            </a:xfrm>
            <a:custGeom>
              <a:avLst/>
              <a:gdLst/>
              <a:ahLst/>
              <a:cxnLst/>
              <a:rect r="r" b="b" t="t" l="l"/>
              <a:pathLst>
                <a:path h="356870" w="446024">
                  <a:moveTo>
                    <a:pt x="0" y="0"/>
                  </a:moveTo>
                  <a:lnTo>
                    <a:pt x="446024" y="0"/>
                  </a:lnTo>
                  <a:lnTo>
                    <a:pt x="446024" y="356870"/>
                  </a:lnTo>
                  <a:lnTo>
                    <a:pt x="0" y="35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1" r="0" b="-33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62633" y="3930528"/>
            <a:ext cx="8657542" cy="4691306"/>
          </a:xfrm>
          <a:custGeom>
            <a:avLst/>
            <a:gdLst/>
            <a:ahLst/>
            <a:cxnLst/>
            <a:rect r="r" b="b" t="t" l="l"/>
            <a:pathLst>
              <a:path h="4691306" w="8657542">
                <a:moveTo>
                  <a:pt x="0" y="0"/>
                </a:moveTo>
                <a:lnTo>
                  <a:pt x="8657542" y="0"/>
                </a:lnTo>
                <a:lnTo>
                  <a:pt x="8657542" y="4691306"/>
                </a:lnTo>
                <a:lnTo>
                  <a:pt x="0" y="469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2309" y="909476"/>
            <a:ext cx="16097221" cy="151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Halfords destaca en tienda, pero pierde ventaja en soporte y postventa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929" y="2974734"/>
            <a:ext cx="4736468" cy="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Mejor que la competencia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86929" y="3535842"/>
            <a:ext cx="7722137" cy="140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Experiencia en tienda: </a:t>
            </a:r>
            <a:r>
              <a:rPr lang="en-US" b="true" sz="2101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+16,19 pp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Bombillas y luces: </a:t>
            </a:r>
            <a:r>
              <a:rPr lang="en-US" b="true" sz="2101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+12,39 pp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Bicicletas: </a:t>
            </a:r>
            <a:r>
              <a:rPr lang="en-US" b="true" sz="2101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+5,92 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29" y="5148577"/>
            <a:ext cx="4577696" cy="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Peor que la competencia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29" y="5709685"/>
            <a:ext cx="7722137" cy="115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Atención al cliente: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−8,91 pp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Limpiaparabrisas: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−14,06 pp</a:t>
            </a:r>
          </a:p>
          <a:p>
            <a:pPr algn="l" marL="380642" indent="-190321" lvl="1">
              <a:lnSpc>
                <a:spcPts val="3102"/>
              </a:lnSpc>
              <a:buFont typeface="Arial"/>
              <a:buChar char="•"/>
            </a:pPr>
            <a:r>
              <a:rPr lang="en-US" sz="2101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Baterías, garantías y pedidos: </a:t>
            </a:r>
            <a:r>
              <a:rPr lang="en-US" b="true" sz="2101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+6,59 pp de sentimiento negativo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6742" y="7584300"/>
            <a:ext cx="6584671" cy="12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101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H5 confirmada:</a:t>
            </a:r>
            <a:r>
              <a:rPr lang="en-US" sz="2101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 la ventaja competitiva se concentra en la experiencia presencial; las debilidades aparecen en soporte y postventa.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2294" y="9472035"/>
            <a:ext cx="16277252" cy="25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  <a:spcBef>
                <a:spcPct val="0"/>
              </a:spcBef>
            </a:pPr>
            <a:r>
              <a:rPr lang="en-US" sz="1701">
                <a:solidFill>
                  <a:srgbClr val="FFFFFF"/>
                </a:solidFill>
                <a:latin typeface="Mukta"/>
                <a:ea typeface="Mukta"/>
                <a:cs typeface="Mukta"/>
                <a:sym typeface="Mukta"/>
              </a:rPr>
              <a:t>Nota metodológica: los topics se entrenaron con las reseñas de Halfords y posteriormente se proyectaron sobre la competencia; la comparación por topic tiene carácter exploratorio.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2157" y="1108748"/>
            <a:ext cx="9234326" cy="123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7"/>
              </a:lnSpc>
            </a:pPr>
            <a:r>
              <a:rPr lang="en-US" sz="382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Prioridades para mejorar Customer Experience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73563" y="2574360"/>
            <a:ext cx="9262920" cy="1903657"/>
          </a:xfrm>
          <a:custGeom>
            <a:avLst/>
            <a:gdLst/>
            <a:ahLst/>
            <a:cxnLst/>
            <a:rect r="r" b="b" t="t" l="l"/>
            <a:pathLst>
              <a:path h="1903657" w="9262920">
                <a:moveTo>
                  <a:pt x="0" y="0"/>
                </a:moveTo>
                <a:lnTo>
                  <a:pt x="9262919" y="0"/>
                </a:lnTo>
                <a:lnTo>
                  <a:pt x="9262919" y="1903657"/>
                </a:lnTo>
                <a:lnTo>
                  <a:pt x="0" y="19036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58" r="0" b="-25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6980" y="2813866"/>
            <a:ext cx="2449478" cy="31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Conclusiones clave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980" y="3203067"/>
            <a:ext cx="8650481" cy="102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340"/>
              </a:lnSpc>
              <a:buFont typeface="Arial"/>
              <a:buChar char="•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Percepción global ligeramente mejor que la competencia</a:t>
            </a:r>
          </a:p>
          <a:p>
            <a:pPr algn="l" marL="312670" indent="-156335" lvl="1">
              <a:lnSpc>
                <a:spcPts val="2340"/>
              </a:lnSpc>
              <a:buFont typeface="Arial"/>
              <a:buChar char="•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Experiencia en tienda: fortaleza clara</a:t>
            </a:r>
          </a:p>
          <a:p>
            <a:pPr algn="l" marL="312670" indent="-156335" lvl="1">
              <a:lnSpc>
                <a:spcPts val="2340"/>
              </a:lnSpc>
              <a:buFont typeface="Arial"/>
              <a:buChar char="•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Atención general: principal foco de insatisfacción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73563" y="4632322"/>
            <a:ext cx="9262920" cy="2610850"/>
          </a:xfrm>
          <a:custGeom>
            <a:avLst/>
            <a:gdLst/>
            <a:ahLst/>
            <a:cxnLst/>
            <a:rect r="r" b="b" t="t" l="l"/>
            <a:pathLst>
              <a:path h="2610850" w="9262920">
                <a:moveTo>
                  <a:pt x="0" y="0"/>
                </a:moveTo>
                <a:lnTo>
                  <a:pt x="9262919" y="0"/>
                </a:lnTo>
                <a:lnTo>
                  <a:pt x="9262919" y="2610850"/>
                </a:lnTo>
                <a:lnTo>
                  <a:pt x="0" y="26108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6980" y="4871828"/>
            <a:ext cx="2449478" cy="31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Recomendaciones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6980" y="5203879"/>
            <a:ext cx="8650481" cy="177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917"/>
              </a:lnSpc>
              <a:buAutoNum type="arabicPeriod" startAt="1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Replicar buenas prácticas del personal mejor valorado</a:t>
            </a:r>
          </a:p>
          <a:p>
            <a:pPr algn="l" marL="312670" indent="-156335" lvl="1">
              <a:lnSpc>
                <a:spcPts val="2917"/>
              </a:lnSpc>
              <a:buAutoNum type="arabicPeriod" startAt="1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Mejorar tiempos de respuesta y resolución de incidencias</a:t>
            </a:r>
          </a:p>
          <a:p>
            <a:pPr algn="l" marL="312670" indent="-156335" lvl="1">
              <a:lnSpc>
                <a:spcPts val="2917"/>
              </a:lnSpc>
              <a:buAutoNum type="arabicPeriod" startAt="1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Revisar garantías, pedidos y comunicación postventa</a:t>
            </a:r>
          </a:p>
          <a:p>
            <a:pPr algn="l" marL="312670" indent="-156335" lvl="1">
              <a:lnSpc>
                <a:spcPts val="2917"/>
              </a:lnSpc>
              <a:buAutoNum type="arabicPeriod" startAt="1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Estandarizar instalación de limpiaparabrisas</a:t>
            </a:r>
          </a:p>
          <a:p>
            <a:pPr algn="l" marL="312670" indent="-156335" lvl="1">
              <a:lnSpc>
                <a:spcPts val="2917"/>
              </a:lnSpc>
              <a:buAutoNum type="arabicPeriod" startAt="1"/>
            </a:pP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Revisar reseñas negativas de topics críticos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02157" y="7416689"/>
            <a:ext cx="9234326" cy="1636102"/>
            <a:chOff x="0" y="0"/>
            <a:chExt cx="12312434" cy="21814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12397" cy="2181406"/>
            </a:xfrm>
            <a:custGeom>
              <a:avLst/>
              <a:gdLst/>
              <a:ahLst/>
              <a:cxnLst/>
              <a:rect r="r" b="b" t="t" l="l"/>
              <a:pathLst>
                <a:path h="2181406" w="12312397">
                  <a:moveTo>
                    <a:pt x="0" y="204586"/>
                  </a:moveTo>
                  <a:cubicBezTo>
                    <a:pt x="0" y="91558"/>
                    <a:pt x="55245" y="0"/>
                    <a:pt x="123444" y="0"/>
                  </a:cubicBezTo>
                  <a:lnTo>
                    <a:pt x="12188952" y="0"/>
                  </a:lnTo>
                  <a:cubicBezTo>
                    <a:pt x="12257151" y="0"/>
                    <a:pt x="12312397" y="91558"/>
                    <a:pt x="12312397" y="204586"/>
                  </a:cubicBezTo>
                  <a:lnTo>
                    <a:pt x="12312397" y="1976820"/>
                  </a:lnTo>
                  <a:cubicBezTo>
                    <a:pt x="12312397" y="2089847"/>
                    <a:pt x="12257151" y="2181406"/>
                    <a:pt x="12188952" y="2181406"/>
                  </a:cubicBezTo>
                  <a:lnTo>
                    <a:pt x="123444" y="2181406"/>
                  </a:lnTo>
                  <a:cubicBezTo>
                    <a:pt x="55245" y="2181406"/>
                    <a:pt x="0" y="2089847"/>
                    <a:pt x="0" y="1976820"/>
                  </a:cubicBezTo>
                  <a:close/>
                </a:path>
              </a:pathLst>
            </a:custGeom>
            <a:solidFill>
              <a:srgbClr val="321A2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2594" y="7699534"/>
            <a:ext cx="275539" cy="220437"/>
            <a:chOff x="0" y="0"/>
            <a:chExt cx="367386" cy="29391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67411" cy="293878"/>
            </a:xfrm>
            <a:custGeom>
              <a:avLst/>
              <a:gdLst/>
              <a:ahLst/>
              <a:cxnLst/>
              <a:rect r="r" b="b" t="t" l="l"/>
              <a:pathLst>
                <a:path h="293878" w="367411">
                  <a:moveTo>
                    <a:pt x="0" y="0"/>
                  </a:moveTo>
                  <a:lnTo>
                    <a:pt x="367411" y="0"/>
                  </a:lnTo>
                  <a:lnTo>
                    <a:pt x="367411" y="293878"/>
                  </a:lnTo>
                  <a:lnTo>
                    <a:pt x="0" y="29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724" r="6" b="-173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89976" y="7574596"/>
            <a:ext cx="8297485" cy="116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726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Limitaciones:</a:t>
            </a:r>
            <a:r>
              <a:rPr lang="en-US" sz="1726">
                <a:solidFill>
                  <a:srgbClr val="FFFFFF"/>
                </a:solidFill>
                <a:latin typeface="Mukta Light"/>
                <a:ea typeface="Mukta Light"/>
                <a:cs typeface="Mukta Light"/>
                <a:sym typeface="Mukta Light"/>
              </a:rPr>
              <a:t> 100 reseñas de Halfords; algunos topics con pocos casos;  aunque VADER no es un modelo deep learning, VADER es modelo léxico, se ha utilizado como modelo NLP de sentimiento porque permite clasificar el texto sin usar estrellas y es adecuado para reseñas breves en inglés. Se propone validación manual.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9367242"/>
            <a:ext cx="9234326" cy="61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726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Mensaje final:</a:t>
            </a:r>
            <a:r>
              <a:rPr lang="en-US" sz="172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Halfords parte de posición favorable, pero debe trasladar la calidad de su experiencia en tienda a la atención general y la postventa.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201900" y="9740751"/>
            <a:ext cx="3086100" cy="489785"/>
            <a:chOff x="0" y="0"/>
            <a:chExt cx="812800" cy="1289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28997"/>
            </a:xfrm>
            <a:custGeom>
              <a:avLst/>
              <a:gdLst/>
              <a:ahLst/>
              <a:cxnLst/>
              <a:rect r="r" b="b" t="t" l="l"/>
              <a:pathLst>
                <a:path h="12899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8997"/>
                  </a:lnTo>
                  <a:lnTo>
                    <a:pt x="0" y="128997"/>
                  </a:lnTo>
                  <a:close/>
                </a:path>
              </a:pathLst>
            </a:custGeom>
            <a:solidFill>
              <a:srgbClr val="0A0B2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12800" cy="14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DAHNSj6byVY</dc:identifier>
  <dcterms:modified xsi:type="dcterms:W3CDTF">2011-08-01T06:04:30Z</dcterms:modified>
  <cp:revision>1</cp:revision>
  <dc:title>Analisis-de-Resenas-Trustpilot-Halfords.pptx</dc:title>
</cp:coreProperties>
</file>